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2926080" cy="36576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INTELLIGENT CYBERSECURITY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4F8"/>
                </a:solidFill>
                <a:latin typeface="Arial Black"/>
              </a:defRPr>
            </a:pPr>
            <a:r>
              <a:t>SENTINEL AI</a:t>
            </a:r>
          </a:p>
          <a:p>
            <a:pPr>
              <a:spcBef>
                <a:spcPts val="800"/>
              </a:spcBef>
              <a:defRPr sz="2000">
                <a:solidFill>
                  <a:srgbClr val="4FACFE"/>
                </a:solidFill>
                <a:latin typeface="Arial"/>
              </a:defRPr>
            </a:pPr>
            <a:r>
              <a:t>Real-Time Intelligent Financial Fraud Detection System</a:t>
            </a:r>
          </a:p>
          <a:p>
            <a:pPr>
              <a:spcBef>
                <a:spcPts val="1000"/>
              </a:spcBef>
              <a:defRPr sz="1300">
                <a:solidFill>
                  <a:srgbClr val="9CAFC6"/>
                </a:solidFill>
                <a:latin typeface="Arial"/>
              </a:defRPr>
            </a:pPr>
            <a:r>
              <a:t>An end-to-end full-stack platform integrating machine learning inference, explainable behavioral risk scoring, transaction monitoring, and security investigation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PROJECT TEAM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480560"/>
            <a:ext cx="3291840" cy="1371600"/>
          </a:xfrm>
          <a:prstGeom prst="roundRect">
            <a:avLst/>
          </a:prstGeom>
          <a:solidFill>
            <a:srgbClr val="0E19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★ TEAM LEADER</a:t>
            </a:r>
          </a:p>
          <a:p>
            <a:pPr>
              <a:spcBef>
                <a:spcPts val="400"/>
              </a:spcBef>
              <a:defRPr sz="1600" b="1">
                <a:solidFill>
                  <a:srgbClr val="F0F4F8"/>
                </a:solidFill>
              </a:defRPr>
            </a:pPr>
            <a:r>
              <a:t>Sanket Kushwaha</a:t>
            </a:r>
          </a:p>
          <a:p>
            <a:pPr>
              <a:defRPr sz="1100">
                <a:solidFill>
                  <a:srgbClr val="9CAFC6"/>
                </a:solidFill>
              </a:defRPr>
            </a:pPr>
            <a:r>
              <a:t>Full-Stack &amp; ML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480560"/>
            <a:ext cx="2148840" cy="1371600"/>
          </a:xfrm>
          <a:prstGeom prst="roundRect">
            <a:avLst/>
          </a:prstGeom>
          <a:solidFill>
            <a:srgbClr val="0E1932"/>
          </a:solidFill>
          <a:ln w="1270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ACFE"/>
                </a:solidFill>
              </a:defRPr>
            </a:pPr>
            <a:r>
              <a:t>TEAM MEMBER</a:t>
            </a:r>
          </a:p>
          <a:p>
            <a:pPr>
              <a:spcBef>
                <a:spcPts val="400"/>
              </a:spcBef>
              <a:defRPr sz="1400" b="1">
                <a:solidFill>
                  <a:srgbClr val="F0F4F8"/>
                </a:solidFill>
              </a:defRPr>
            </a:pPr>
            <a:r>
              <a:t>Anand Verma</a:t>
            </a:r>
          </a:p>
          <a:p>
            <a:pPr>
              <a:defRPr sz="1000">
                <a:solidFill>
                  <a:srgbClr val="9CAFC6"/>
                </a:solidFill>
              </a:defRPr>
            </a:pPr>
            <a:r>
              <a:t>Backend &amp; API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480560"/>
            <a:ext cx="2148840" cy="1371600"/>
          </a:xfrm>
          <a:prstGeom prst="roundRect">
            <a:avLst/>
          </a:prstGeom>
          <a:solidFill>
            <a:srgbClr val="0E1932"/>
          </a:solidFill>
          <a:ln w="1270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ACFE"/>
                </a:solidFill>
              </a:defRPr>
            </a:pPr>
            <a:r>
              <a:t>TEAM MEMBER</a:t>
            </a:r>
          </a:p>
          <a:p>
            <a:pPr>
              <a:spcBef>
                <a:spcPts val="400"/>
              </a:spcBef>
              <a:defRPr sz="1400" b="1">
                <a:solidFill>
                  <a:srgbClr val="F0F4F8"/>
                </a:solidFill>
              </a:defRPr>
            </a:pPr>
            <a:r>
              <a:t>Sandeep Mishra</a:t>
            </a:r>
          </a:p>
          <a:p>
            <a:pPr>
              <a:defRPr sz="1000">
                <a:solidFill>
                  <a:srgbClr val="9CAFC6"/>
                </a:solidFill>
              </a:defRPr>
            </a:pPr>
            <a:r>
              <a:t>Machine Learning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4480560"/>
            <a:ext cx="2148840" cy="1371600"/>
          </a:xfrm>
          <a:prstGeom prst="roundRect">
            <a:avLst/>
          </a:prstGeom>
          <a:solidFill>
            <a:srgbClr val="0E1932"/>
          </a:solidFill>
          <a:ln w="1270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FACFE"/>
                </a:solidFill>
              </a:defRPr>
            </a:pPr>
            <a:r>
              <a:t>TEAM MEMBER</a:t>
            </a:r>
          </a:p>
          <a:p>
            <a:pPr>
              <a:spcBef>
                <a:spcPts val="400"/>
              </a:spcBef>
              <a:defRPr sz="1400" b="1">
                <a:solidFill>
                  <a:srgbClr val="F0F4F8"/>
                </a:solidFill>
              </a:defRPr>
            </a:pPr>
            <a:r>
              <a:t>Kunal</a:t>
            </a:r>
          </a:p>
          <a:p>
            <a:pPr>
              <a:defRPr sz="1000">
                <a:solidFill>
                  <a:srgbClr val="9CAFC6"/>
                </a:solidFill>
              </a:defRPr>
            </a:pPr>
            <a:r>
              <a:t>Frontend UI/UX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01 //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The Growing Crisis of Digital Financial Fraud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02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Massive Transaction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Digital payments and UPI/card volumes are experiencing exponential global growth.</a:t>
            </a:r>
          </a:p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Rapid transaction speeds (under 2 seconds) leave virtually zero window for manual review.</a:t>
            </a:r>
          </a:p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Financial institutions lose tens of billions annually to unauthorized card-not-present fraud, identity theft, and account takeovers.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7830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Limitations of Rule-Based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2860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Static If-Else Rules: Fail to detect evolving, novel fraud attack vectors and money-mule networks.</a:t>
            </a:r>
          </a:p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High False Positive Rates: Inconveniences legitimate customers by freezing genuine cards and transactions.</a:t>
            </a:r>
          </a:p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Manual Operational Delay: Flagged queues become overwhelmed with backlog, delaying critical risk mitigation.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830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Why Intelligent AI is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860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Behavioral Pattern Recognition: Analyzes non-linear correlations across amount, location, device, and velocity.</a:t>
            </a:r>
          </a:p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Sub-Second Predictive Scoring: Yields risk probabilities and tiered recommendations instantly upon submission.</a:t>
            </a:r>
          </a:p>
          <a:p>
            <a:pPr>
              <a:spcAft>
                <a:spcPts val="1200"/>
              </a:spcAft>
              <a:defRPr sz="1300">
                <a:solidFill>
                  <a:srgbClr val="F0F4F8"/>
                </a:solidFill>
              </a:defRPr>
            </a:pPr>
            <a:r>
              <a:t>• Explainable Warning Signals: Tells human compliance officers exactly why a transaction was flagged.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02 //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Sentinel AI Core Objectives &amp;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03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Real-Time Transaction Risk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</a:defRPr>
            </a:pPr>
            <a:r>
              <a:t>Develop an interactive analysis pipeline that computes fraud probability (0–100%) and categorizes risk into Low Risk, Review Required, or High Risk in under 100 milliseconds.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Explainable Intelligence &amp; Decision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</a:defRPr>
            </a:pPr>
            <a:r>
              <a:t>Provide transparent warning signals and feature contributions explaining why an alert was triggered, rather than treating the ML model as an uninterpretable black 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Full-Stack Investigation &amp; Case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</a:defRPr>
            </a:pPr>
            <a:r>
              <a:t>Build a dedicated Fraud Alerts Center allowing security analysts to triage alerts, update statuses (Open, Investigating, Resolved), and persist case notes directly to the database.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FF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Comprehensive Visual Dashboard &amp; Auditing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</a:defRPr>
            </a:pPr>
            <a:r>
              <a:t>Deliver a SaaS-grade live dashboard with volume timeline analytics, risk distributions, paginated historical search, and CSV export for compliance auditing.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03 //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Multi-Tiered Full-Stack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04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Layered Architecture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E5FF"/>
                </a:solidFill>
              </a:defRPr>
            </a:pPr>
            <a:r>
              <a:t>▶ Client UI Layer (React 18 + Vite)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Modern Single Page Application delivering high-performance UI, interactive forms, real-time charts, and toast notifications.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▶ API Gateway Layer (FastAPI + Pydantic)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High-performance asynchronous REST endpoints validating schema inputs, enforcing business logic, and routing calls.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▶ ML Intelligence Engine (scikit-learn)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Trained RandomForest model loading serialized artifacts to evaluate incoming feature vectors and generate probabilistic scores.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▶ Data Persistence Layer (SQLite + SQLAlchemy)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Relational persistence storing transactions, audit logs, alert histories, and case investigator notes across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End-to-End Processing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Step 1: Transaction Input — User submits transaction via web UI or API with amount, time, velocity, and device metrics.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Step 2: Server-Side Schema Validation — FastAPI and Pydantic validate ranges, sanitize inputs, and prevent bad payloads.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Step 3: Feature Transformation — Raw data is converted into numerical feature vectors matching model training specifications.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Step 4: Machine Learning Inference — Random Forest classifier estimates probability of fraud based on learned patterns.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Step 5: Rule &amp; Explanation Engine — Identifies specific anomalies (e.g. nocturnal hour, velocity spike) to produce warnings.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Step 6: Database Persistence &amp; Alerting — Records saved in SQLite; transactions &gt;= 65% risk automatically generate open alerts.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Step 7: Real-time UI Update — Dashboard counters and alert feeds update immediately without requiring page refresh.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04 //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Robust &amp; Modern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05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Frontend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F0F4F8"/>
                </a:solidFill>
              </a:defRPr>
            </a:pPr>
            <a:r>
              <a:t>• React 18 + TypeScript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Component-based, type-safe UI architecture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Vite Build Tool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Lightning-fast HMR and bundle compilation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Tailwind CSS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Utility-first modern dark cybersecurity theme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Recharts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Interactive Area, Bar, and Donut visualizations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Lucide React Icons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Crisp vector icons across navigation &amp; widgets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React Router DOM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Declarative client-side routing across 5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Backend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F0F4F8"/>
                </a:solidFill>
              </a:defRPr>
            </a:pPr>
            <a:r>
              <a:t>• Python 3.11+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Clean, expressive environment for ML &amp; backend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FastAPI Framework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Asynchronous, production-grade OpenAPI endpoints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Pydantic v2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Strict schema validation and error responses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Uvicorn ASGI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Ultra-fast ASGI web server for production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CORS Middleware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Restricted, secure cross-origin 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ML &amp;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F0F4F8"/>
                </a:solidFill>
              </a:defRPr>
            </a:pPr>
            <a:r>
              <a:t>• scikit-learn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RandomForestClassifier with ensemble bagging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NumPy &amp; pandas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High-performance vector and tabular data manipulation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joblib / Pickle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Serialization of trained model artifacts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SQLAlchemy ORM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Declarative schema mapping and relation queries</a:t>
            </a:r>
          </a:p>
          <a:p>
            <a:pPr>
              <a:defRPr sz="1200" b="1">
                <a:solidFill>
                  <a:srgbClr val="F0F4F8"/>
                </a:solidFill>
              </a:defRPr>
            </a:pPr>
            <a:r>
              <a:t>• SQLite Database</a:t>
            </a:r>
          </a:p>
          <a:p>
            <a:pPr>
              <a:spcAft>
                <a:spcPts val="800"/>
              </a:spcAft>
              <a:defRPr sz="1000">
                <a:solidFill>
                  <a:srgbClr val="9CAFC6"/>
                </a:solidFill>
              </a:defRPr>
            </a:pPr>
            <a:r>
              <a:t>  Serverless ACID persistence for auditability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05 // UI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Visual Design &amp; Cybersecurity Brand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Dark Cyber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4F8"/>
                </a:solidFill>
              </a:defRPr>
            </a:pPr>
            <a:r>
              <a:t>Custom dark navy palette (#0B132B) paired with deep slate cards, avoiding harsh eye fatigue during long security monitoring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Data-Dense Clean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4F8"/>
                </a:solidFill>
              </a:defRPr>
            </a:pPr>
            <a:r>
              <a:t>Zero unnecessary clutter. Fine borders, restrained subtle glowing accents, and high-contrast typography designed for immediate cognitive clarity.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Visual Risk 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4F8"/>
                </a:solidFill>
              </a:defRPr>
            </a:pPr>
            <a:r>
              <a:t>Intuitive three-tier color coding: Emerald Green for Low Risk, Golden Amber for Review Required, and Crimson Red for Critical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FF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Responsive &amp; Dynamic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4F8"/>
                </a:solidFill>
              </a:defRPr>
            </a:pPr>
            <a:r>
              <a:t>Fully responsive desktop and tablet layouts with interactive drawer navigation, real-time loading skeletons, and helpful empty state displays.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06 // 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Core Feature: Interactive Transaction Analyzer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07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Multi-Factor Behavioral Input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 b="1">
                <a:solidFill>
                  <a:srgbClr val="F0F4F8"/>
                </a:solidFill>
              </a:defRPr>
            </a:pPr>
            <a:r>
              <a:t>• Transaction Amount ($): </a:t>
            </a:r>
            <a:r>
              <a:t>Detects abnormally high charge deviations compared to historical spending baselines.</a:t>
            </a:r>
          </a:p>
          <a:p>
            <a:pPr>
              <a:spcAft>
                <a:spcPts val="400"/>
              </a:spcAft>
              <a:defRPr sz="1100" b="1">
                <a:solidFill>
                  <a:srgbClr val="F0F4F8"/>
                </a:solidFill>
              </a:defRPr>
            </a:pPr>
            <a:r>
              <a:t>• Transaction Hour (0-23): </a:t>
            </a:r>
            <a:r>
              <a:t>Analyzes temporal patterns; late-night/early-morning spikes trigger risk flags.</a:t>
            </a:r>
          </a:p>
          <a:p>
            <a:pPr>
              <a:spcAft>
                <a:spcPts val="400"/>
              </a:spcAft>
              <a:defRPr sz="1100" b="1">
                <a:solidFill>
                  <a:srgbClr val="F0F4F8"/>
                </a:solidFill>
              </a:defRPr>
            </a:pPr>
            <a:r>
              <a:t>• Merchant Category: </a:t>
            </a:r>
            <a:r>
              <a:t>Differentiates risk levels (e.g., Electronics &amp; Jewelry vs Groceries &amp; Utilities).</a:t>
            </a:r>
          </a:p>
          <a:p>
            <a:pPr>
              <a:spcAft>
                <a:spcPts val="400"/>
              </a:spcAft>
              <a:defRPr sz="1100" b="1">
                <a:solidFill>
                  <a:srgbClr val="F0F4F8"/>
                </a:solidFill>
              </a:defRPr>
            </a:pPr>
            <a:r>
              <a:t>• Transaction Type: </a:t>
            </a:r>
            <a:r>
              <a:t>POS swipe, online payment, wire transfer, or ATM withdrawal.</a:t>
            </a:r>
          </a:p>
          <a:p>
            <a:pPr>
              <a:spcAft>
                <a:spcPts val="400"/>
              </a:spcAft>
              <a:defRPr sz="1100" b="1">
                <a:solidFill>
                  <a:srgbClr val="F0F4F8"/>
                </a:solidFill>
              </a:defRPr>
            </a:pPr>
            <a:r>
              <a:t>• Geographical Distance: </a:t>
            </a:r>
            <a:r>
              <a:t>Distance (km) from customer home location; flags sudden physical anomalies.</a:t>
            </a:r>
          </a:p>
          <a:p>
            <a:pPr>
              <a:spcAft>
                <a:spcPts val="400"/>
              </a:spcAft>
              <a:defRPr sz="1100" b="1">
                <a:solidFill>
                  <a:srgbClr val="F0F4F8"/>
                </a:solidFill>
              </a:defRPr>
            </a:pPr>
            <a:r>
              <a:t>• Recent Transaction Velocity: </a:t>
            </a:r>
            <a:r>
              <a:t>Number of transactions attempted within the last 24 hours.</a:t>
            </a:r>
          </a:p>
          <a:p>
            <a:pPr>
              <a:spcAft>
                <a:spcPts val="400"/>
              </a:spcAft>
              <a:defRPr sz="1100" b="1">
                <a:solidFill>
                  <a:srgbClr val="F0F4F8"/>
                </a:solidFill>
              </a:defRPr>
            </a:pPr>
            <a:r>
              <a:t>• Device Recognition: </a:t>
            </a:r>
            <a:r>
              <a:t>Verifies whether the originating terminal or browser has been previously trusted.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Instant Scoring &amp; Explainability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FACFE"/>
                </a:solidFill>
              </a:defRPr>
            </a:pPr>
            <a:r>
              <a:t>▶ Sub-Second Fraud Probability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Computes calibrated risk score (e.g., 88.4%) directly from model output.</a:t>
            </a:r>
          </a:p>
          <a:p>
            <a:pPr>
              <a:defRPr sz="1200" b="1">
                <a:solidFill>
                  <a:srgbClr val="4FACFE"/>
                </a:solidFill>
              </a:defRPr>
            </a:pPr>
            <a:r>
              <a:t>▶ Automated Tier Assignment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Classified into High Risk, Review Required, or Low Risk based on preset thresholds.</a:t>
            </a:r>
          </a:p>
          <a:p>
            <a:pPr>
              <a:defRPr sz="1200" b="1">
                <a:solidFill>
                  <a:srgbClr val="4FACFE"/>
                </a:solidFill>
              </a:defRPr>
            </a:pPr>
            <a:r>
              <a:t>▶ Dynamic Warning Signals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Explains specific suspicious behaviors detected: e.g., 'Unusual high velocity from unrecognized device at nocturnal hour'.</a:t>
            </a:r>
          </a:p>
          <a:p>
            <a:pPr>
              <a:defRPr sz="1200" b="1">
                <a:solidFill>
                  <a:srgbClr val="4FACFE"/>
                </a:solidFill>
              </a:defRPr>
            </a:pPr>
            <a:r>
              <a:t>▶ Audit Reference ID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Generates unique tracking hash (e.g., TX-84920) stored in database for legal traceability.</a:t>
            </a:r>
          </a:p>
          <a:p>
            <a:pPr>
              <a:defRPr sz="1200" b="1">
                <a:solidFill>
                  <a:srgbClr val="4FACFE"/>
                </a:solidFill>
              </a:defRPr>
            </a:pPr>
            <a:r>
              <a:t>▶ Actionable Analyst Guidance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Provides next steps: Approve, Freeze Card, or Route to Compliance Review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07 // 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Real-Time Transaction Monitoring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08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CAFC6"/>
                </a:solidFill>
              </a:defRPr>
            </a:pPr>
            <a:r>
              <a:t>TOTAL ANALYZED</a:t>
            </a:r>
          </a:p>
          <a:p>
            <a:pPr>
              <a:defRPr sz="2000" b="1">
                <a:solidFill>
                  <a:srgbClr val="F0F4F8"/>
                </a:solidFill>
              </a:defRPr>
            </a:pPr>
            <a:r>
              <a:t>1,248</a:t>
            </a:r>
          </a:p>
          <a:p>
            <a:pPr>
              <a:defRPr sz="900">
                <a:solidFill>
                  <a:srgbClr val="00E5FF"/>
                </a:solidFill>
              </a:defRPr>
            </a:pPr>
            <a:r>
              <a:t>All historical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60320" cy="128016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CAFC6"/>
                </a:solidFill>
              </a:defRPr>
            </a:pPr>
            <a:r>
              <a:t>HIGH RISK ALERTS</a:t>
            </a:r>
          </a:p>
          <a:p>
            <a:pPr>
              <a:defRPr sz="2000" b="1">
                <a:solidFill>
                  <a:srgbClr val="F0F4F8"/>
                </a:solidFill>
              </a:defRPr>
            </a:pPr>
            <a:r>
              <a:t>42</a:t>
            </a:r>
          </a:p>
          <a:p>
            <a:pPr>
              <a:defRPr sz="900">
                <a:solidFill>
                  <a:srgbClr val="FF5252"/>
                </a:solidFill>
              </a:defRPr>
            </a:pPr>
            <a:r>
              <a:t>Transactions &gt;= 65%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60320" cy="128016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FF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CAFC6"/>
                </a:solidFill>
              </a:defRPr>
            </a:pPr>
            <a:r>
              <a:t>UNDER REVIEW</a:t>
            </a:r>
          </a:p>
          <a:p>
            <a:pPr>
              <a:defRPr sz="2000" b="1">
                <a:solidFill>
                  <a:srgbClr val="F0F4F8"/>
                </a:solidFill>
              </a:defRPr>
            </a:pPr>
            <a:r>
              <a:t>89</a:t>
            </a:r>
          </a:p>
          <a:p>
            <a:pPr>
              <a:defRPr sz="900">
                <a:solidFill>
                  <a:srgbClr val="FFB142"/>
                </a:solidFill>
              </a:defRPr>
            </a:pPr>
            <a:r>
              <a:t>Requires human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60320" cy="128016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CAFC6"/>
                </a:solidFill>
              </a:defRPr>
            </a:pPr>
            <a:r>
              <a:t>TOTAL VOLUME MONITORED</a:t>
            </a:r>
          </a:p>
          <a:p>
            <a:pPr>
              <a:defRPr sz="2000" b="1">
                <a:solidFill>
                  <a:srgbClr val="F0F4F8"/>
                </a:solidFill>
              </a:defRPr>
            </a:pPr>
            <a:r>
              <a:t>$248,910</a:t>
            </a:r>
          </a:p>
          <a:p>
            <a:pPr>
              <a:defRPr sz="900">
                <a:solidFill>
                  <a:srgbClr val="00E676"/>
                </a:solidFill>
              </a:defRPr>
            </a:pPr>
            <a:r>
              <a:t>Aggregated transaction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486400" cy="310896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Visual Data Analytics (Recharts Integration)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 b="1">
                <a:solidFill>
                  <a:srgbClr val="F0F4F8"/>
                </a:solidFill>
              </a:defRPr>
            </a:pPr>
            <a:r>
              <a:t>• Temporal Activity Timeline: </a:t>
            </a:r>
            <a:r>
              <a:t>Interactive Area Chart plotting transaction volume and suspicious frequency over time.</a:t>
            </a:r>
          </a:p>
          <a:p>
            <a:pPr>
              <a:spcAft>
                <a:spcPts val="800"/>
              </a:spcAft>
              <a:defRPr sz="1100" b="1">
                <a:solidFill>
                  <a:srgbClr val="F0F4F8"/>
                </a:solidFill>
              </a:defRPr>
            </a:pPr>
            <a:r>
              <a:t>• Risk Distribution Breakdown: </a:t>
            </a:r>
            <a:r>
              <a:t>Donut/Pie charts displaying percentage proportions of Low, Review, and High Risk.</a:t>
            </a:r>
          </a:p>
          <a:p>
            <a:pPr>
              <a:spcAft>
                <a:spcPts val="800"/>
              </a:spcAft>
              <a:defRPr sz="1100" b="1">
                <a:solidFill>
                  <a:srgbClr val="F0F4F8"/>
                </a:solidFill>
              </a:defRPr>
            </a:pPr>
            <a:r>
              <a:t>• Zero Hardcoding Policy: </a:t>
            </a:r>
            <a:r>
              <a:t>All chart coordinates and data points populate dynamically from backend `/api/dashboard/summary`.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200400"/>
            <a:ext cx="4937760" cy="310896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337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Real-Time Transaction &amp; Alert 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39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4FACFE"/>
                </a:solidFill>
              </a:defRPr>
            </a:pPr>
            <a:r>
              <a:t>▶ Instant Stream Updates</a:t>
            </a:r>
          </a:p>
          <a:p>
            <a:pPr>
              <a:spcAft>
                <a:spcPts val="600"/>
              </a:spcAft>
              <a:defRPr sz="1000">
                <a:solidFill>
                  <a:srgbClr val="F0F4F8"/>
                </a:solidFill>
              </a:defRPr>
            </a:pPr>
            <a:r>
              <a:t>Chronological list of recently processed transactions showing amount, category, and score.</a:t>
            </a:r>
          </a:p>
          <a:p>
            <a:pPr>
              <a:defRPr sz="1100" b="1">
                <a:solidFill>
                  <a:srgbClr val="4FACFE"/>
                </a:solidFill>
              </a:defRPr>
            </a:pPr>
            <a:r>
              <a:t>▶ Critical Threat Drawer</a:t>
            </a:r>
          </a:p>
          <a:p>
            <a:pPr>
              <a:spcAft>
                <a:spcPts val="600"/>
              </a:spcAft>
              <a:defRPr sz="1000">
                <a:solidFill>
                  <a:srgbClr val="F0F4F8"/>
                </a:solidFill>
              </a:defRPr>
            </a:pPr>
            <a:r>
              <a:t>Quick-action shortcuts allowing security officers to jump directly into high-risk alert details.</a:t>
            </a:r>
          </a:p>
          <a:p>
            <a:pPr>
              <a:defRPr sz="1100" b="1">
                <a:solidFill>
                  <a:srgbClr val="4FACFE"/>
                </a:solidFill>
              </a:defRPr>
            </a:pPr>
            <a:r>
              <a:t>▶ Graceful Empty States</a:t>
            </a:r>
          </a:p>
          <a:p>
            <a:pPr>
              <a:spcAft>
                <a:spcPts val="600"/>
              </a:spcAft>
              <a:defRPr sz="1000">
                <a:solidFill>
                  <a:srgbClr val="F0F4F8"/>
                </a:solidFill>
              </a:defRPr>
            </a:pPr>
            <a:r>
              <a:t>Intelligent visual placeholders guiding users to analyze transactions when database is newly initialized.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08 // CASE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Fraud Alerts Center &amp; Investigation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09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Investigator Case Management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FFB142"/>
                </a:solidFill>
              </a:defRPr>
            </a:pPr>
            <a:r>
              <a:t>1. Automatic Alert Ingestion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Any transaction scored above the critical risk threshold (e.g. 65%) is immediately placed into the Active Alert queue with an 'Open' status.</a:t>
            </a:r>
          </a:p>
          <a:p>
            <a:pPr>
              <a:defRPr sz="1200" b="1">
                <a:solidFill>
                  <a:srgbClr val="FFB142"/>
                </a:solidFill>
              </a:defRPr>
            </a:pPr>
            <a:r>
              <a:t>2. Multi-Criteria Triage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Investigators can filter alerts by Risk Severity, Timestamp, Transaction Amount, or Status to prioritize high-value threats.</a:t>
            </a:r>
          </a:p>
          <a:p>
            <a:pPr>
              <a:defRPr sz="1200" b="1">
                <a:solidFill>
                  <a:srgbClr val="FFB142"/>
                </a:solidFill>
              </a:defRPr>
            </a:pPr>
            <a:r>
              <a:t>3. Investigation Status Transition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Lifecycle tracking through 4 explicit states: [Open] ➜ [Investigating] ➜ [Resolved] or [False Positive].</a:t>
            </a:r>
          </a:p>
          <a:p>
            <a:pPr>
              <a:defRPr sz="1200" b="1">
                <a:solidFill>
                  <a:srgbClr val="FFB142"/>
                </a:solidFill>
              </a:defRPr>
            </a:pPr>
            <a:r>
              <a:t>4. Persistent Audit Notes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Security analysts record qualitative observations and evidence logs, saved permanently to SQLite with investigator timestamps.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Why Human-in-the-Loop AI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E5FF"/>
                </a:solidFill>
              </a:defRPr>
            </a:pPr>
            <a:r>
              <a:t>• Reduces False Positive Friction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Allows operations teams to swiftly dismiss verified false alarms without disrupting user accounts permanently.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• Continuous Feedback Loop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Resolved investigations and marked false positives can serve as labeled ground truth for future retraining batches.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• Compliance &amp; Regulatory Readiness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Maintains an immutable chain of custody with notes and status changes, satisfying KYC/AML auditing standards.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• Prevents Catastrophic Financial Loss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Enables rapid card freezing and merchant chargeback requests before fraudulent settlement completes.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09 // SEARCH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Transaction Explorer &amp; Data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Searchable History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Full-Text Search: Query across Transaction IDs, Merchant names, or Card references.</a:t>
            </a:r>
          </a:p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Server-Side Pagination: Optimized response times handling thousands of stored rows.</a:t>
            </a:r>
          </a:p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Multi-Tier Filtering: Filter simultaneously by Risk Score range, Amount interval, and Date bracket.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7830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Deep Transaction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Detailed Modal View: Inspect full behavioral payload without leaving table view.</a:t>
            </a:r>
          </a:p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Device Fingerprint: Track IP, browser agent, and device recognition history.</a:t>
            </a:r>
          </a:p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Geographic Coordinates: Visual comparison between client home origin and transaction terminal.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8308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Secure CSV Export &amp; Audits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9456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One-Click CSV Export: Export filtered transaction subsets for presentation and reports.</a:t>
            </a:r>
          </a:p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Sanitized Data Export: Prevents formula injection and protects sensitive customer identifiers.</a:t>
            </a:r>
          </a:p>
          <a:p>
            <a:pPr>
              <a:spcAft>
                <a:spcPts val="1200"/>
              </a:spcAft>
              <a:defRPr sz="1200">
                <a:solidFill>
                  <a:srgbClr val="F0F4F8"/>
                </a:solidFill>
              </a:defRPr>
            </a:pPr>
            <a:r>
              <a:t>▶ College Demo Readiness: Allows live downloads of analyzed test sessions during academic viva.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10 //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Machine Learning Pipeline &amp; Model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11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Random Forest Classifier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E5FF"/>
                </a:solidFill>
              </a:defRPr>
            </a:pPr>
            <a:r>
              <a:t>• Algorithm Choice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Random Forest Classifier utilizing ensemble bootstrap aggregating (bagging) over dozens of decision trees.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• Non-Linear Detection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Capable of identifying subtle, complex interactions between velocity, distance, and nocturnal transaction timing.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• Overfitting Prevention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Ensemble voting across decorrelated decision trees prevents memorization of noisy historical data.</a:t>
            </a:r>
          </a:p>
          <a:p>
            <a:pPr>
              <a:defRPr sz="1200" b="1">
                <a:solidFill>
                  <a:srgbClr val="00E5FF"/>
                </a:solidFill>
              </a:defRPr>
            </a:pPr>
            <a:r>
              <a:t>• Deterministic Fallback Demo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Includes a synthetic data generator producing realistic fraud &amp; legitimate distributions even without downloading heavy external CSV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Training Workflow &amp; Real Dataset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FACFE"/>
                </a:solidFill>
              </a:defRPr>
            </a:pPr>
            <a:r>
              <a:t>▶ Public Dataset Compatibility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Built-in adapter maps public credit card fraud datasets (e.g., Kaggle European Credit Card Fraud) directly to the pipeline.</a:t>
            </a:r>
          </a:p>
          <a:p>
            <a:pPr>
              <a:defRPr sz="1200" b="1">
                <a:solidFill>
                  <a:srgbClr val="4FACFE"/>
                </a:solidFill>
              </a:defRPr>
            </a:pPr>
            <a:r>
              <a:t>▶ Stratified Data Split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Strict 80/20 train/test split maintaining exact minority fraud class ratios across both sets to avoid training bias.</a:t>
            </a:r>
          </a:p>
          <a:p>
            <a:pPr>
              <a:defRPr sz="1200" b="1">
                <a:solidFill>
                  <a:srgbClr val="4FACFE"/>
                </a:solidFill>
              </a:defRPr>
            </a:pPr>
            <a:r>
              <a:t>▶ Target Leakage Prevention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Scaler parameters and feature encodings are fitted strictly on training data, preventing test set leakage.</a:t>
            </a:r>
          </a:p>
          <a:p>
            <a:pPr>
              <a:defRPr sz="1200" b="1">
                <a:solidFill>
                  <a:srgbClr val="4FACFE"/>
                </a:solidFill>
              </a:defRPr>
            </a:pPr>
            <a:r>
              <a:t>▶ Artifact Serialization</a:t>
            </a:r>
          </a:p>
          <a:p>
            <a:pPr>
              <a:spcAft>
                <a:spcPts val="600"/>
              </a:spcAft>
              <a:defRPr sz="1100">
                <a:solidFill>
                  <a:srgbClr val="F0F4F8"/>
                </a:solidFill>
              </a:defRPr>
            </a:pPr>
            <a:r>
              <a:t>Model weights (`model.pkl`) and metadata (`model_metrics.json`) are stored cleanly in the `artifacts/` directory.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11 // METRICS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Model Evaluation &amp; Academic Fraud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Why Accuracy is Insufficient in Fraud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0F4F8"/>
                </a:solidFill>
              </a:defRPr>
            </a:pPr>
            <a:r>
              <a:t>In financial fraud datasets, 99.8% of transactions are legitimate and only 0.2% are fraud. A trivial dummy model predicting 'Always Legitimate' would achieve 99.8% accuracy while missing 100% of real-world fraud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Precision &amp; Recall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0F4F8"/>
                </a:solidFill>
              </a:defRPr>
            </a:pPr>
            <a:r>
              <a:t>• Precision: Out of all transactions flagged as fraud, how many were truly fraud? (Prevents customer harassment).</a:t>
            </a:r>
            <a:br/>
            <a:r>
              <a:t>• Recall (Sensitivity): Out of all actual fraud attacks, how many did we intercept? (Prevents monetary loss).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FF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Confusion Matrix &amp; F1-Score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0F4F8"/>
                </a:solidFill>
              </a:defRPr>
            </a:pPr>
            <a:r>
              <a:t>Evaluates True Positives, False Positives, True Negatives, and False Negatives. The F1-Score harmonizes precision and recall into a single balanced metric suited for heavily imbalanced classes.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12080" cy="21488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In-App Real-Time Evaluation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0F4F8"/>
                </a:solidFill>
              </a:defRPr>
            </a:pPr>
            <a:r>
              <a:t>Sentinel AI features a dedicated Model Performance page where users can inspect training timestamps, test sample counts, confusion matrix cells, and trigger model retraining with one click.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12 // 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Arial"/>
              </a:defRPr>
            </a:pPr>
            <a:r>
              <a:t>Project Summary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1C345E"/>
          </a:solidFill>
          <a:ln>
            <a:solidFill>
              <a:srgbClr val="1C3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891"/>
                </a:solidFill>
                <a:latin typeface="Arial"/>
              </a:defRPr>
            </a:pPr>
            <a:r>
              <a:t>13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Key 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E676"/>
                </a:solidFill>
              </a:defRPr>
            </a:pPr>
            <a:r>
              <a:t>✔ Complete Full-Stack Engineering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Delivered a fully integrated platform connecting React, FastAPI, SQLite, and scikit-learn without static mocks.</a:t>
            </a:r>
          </a:p>
          <a:p>
            <a:pPr>
              <a:defRPr sz="1200" b="1">
                <a:solidFill>
                  <a:srgbClr val="00E676"/>
                </a:solidFill>
              </a:defRPr>
            </a:pPr>
            <a:r>
              <a:t>✔ Real-Time Behavioral Scoring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Instant multi-factor risk categorization (&lt;35% Low, 35-64% Review, 65%+ High) with transparent warning signals.</a:t>
            </a:r>
          </a:p>
          <a:p>
            <a:pPr>
              <a:defRPr sz="1200" b="1">
                <a:solidFill>
                  <a:srgbClr val="00E676"/>
                </a:solidFill>
              </a:defRPr>
            </a:pPr>
            <a:r>
              <a:t>✔ Enterprise Investigation Workflow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Complete lifecycle management (Open, Investigating, Resolved) with persistent notes.</a:t>
            </a:r>
          </a:p>
          <a:p>
            <a:pPr>
              <a:defRPr sz="1200" b="1">
                <a:solidFill>
                  <a:srgbClr val="00E676"/>
                </a:solidFill>
              </a:defRPr>
            </a:pPr>
            <a:r>
              <a:t>✔ Production Design Standards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High-contrast dark cybersecurity aesthetics, responsive grids, and clean visual hierarchy.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22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Arial"/>
              </a:defRPr>
            </a:pPr>
            <a:r>
              <a:t>Future Scope &amp; Closing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00E5FF"/>
                </a:solidFill>
              </a:defRPr>
            </a:pPr>
            <a:r>
              <a:t>✦ Graph Neural Networks (GNNs)</a:t>
            </a:r>
          </a:p>
          <a:p>
            <a:pPr>
              <a:spcAft>
                <a:spcPts val="500"/>
              </a:spcAft>
              <a:defRPr sz="1000">
                <a:solidFill>
                  <a:srgbClr val="F0F4F8"/>
                </a:solidFill>
              </a:defRPr>
            </a:pPr>
            <a:r>
              <a:t>Identify complex coordinated fraud syndicates and money-mule rings across multi-hop transaction graphs.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✦ Deep Anomaly Autoencoders</a:t>
            </a:r>
          </a:p>
          <a:p>
            <a:pPr>
              <a:spcAft>
                <a:spcPts val="500"/>
              </a:spcAft>
              <a:defRPr sz="1000">
                <a:solidFill>
                  <a:srgbClr val="F0F4F8"/>
                </a:solidFill>
              </a:defRPr>
            </a:pPr>
            <a:r>
              <a:t>Unsupervised deep learning for detecting zero-day fraud attacks with zero labeled training samples.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✦ Enterprise Streaming Architecture</a:t>
            </a:r>
          </a:p>
          <a:p>
            <a:pPr>
              <a:spcAft>
                <a:spcPts val="500"/>
              </a:spcAft>
              <a:defRPr sz="1000">
                <a:solidFill>
                  <a:srgbClr val="F0F4F8"/>
                </a:solidFill>
              </a:defRPr>
            </a:pPr>
            <a:r>
              <a:t>Scale pipeline with Apache Kafka and Redis cluster for processing 100,000+ transactions per second.</a:t>
            </a:r>
          </a:p>
          <a:p>
            <a:pPr>
              <a:defRPr sz="1100" b="1">
                <a:solidFill>
                  <a:srgbClr val="00E5FF"/>
                </a:solidFill>
              </a:defRPr>
            </a:pPr>
            <a:r>
              <a:t>✦ Hardware Biometrics Integration</a:t>
            </a:r>
          </a:p>
          <a:p>
            <a:pPr>
              <a:spcAft>
                <a:spcPts val="500"/>
              </a:spcAft>
              <a:defRPr sz="1000">
                <a:solidFill>
                  <a:srgbClr val="F0F4F8"/>
                </a:solidFill>
              </a:defRPr>
            </a:pPr>
            <a:r>
              <a:t>Combine device telemetry with keystroke dynamics and behavioral biometric factors.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937760"/>
            <a:ext cx="4846320" cy="1188720"/>
          </a:xfrm>
          <a:prstGeom prst="roundRect">
            <a:avLst/>
          </a:prstGeom>
          <a:solidFill>
            <a:srgbClr val="0E193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0F4F8"/>
                </a:solidFill>
              </a:defRPr>
            </a:pPr>
            <a:r>
              <a:t>Thank You! Questions &amp; Discussion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4FACFE"/>
                </a:solidFill>
              </a:defRPr>
            </a:pPr>
            <a:r>
              <a:t>Presented by: Sanket Kushwaha (Team Lead), Anand Verma, Sandeep Mishra, Kunal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